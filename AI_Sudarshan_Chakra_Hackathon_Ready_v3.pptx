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SudarshanChak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8D68E-1709-2CA2-439E-C25843B81C52}"/>
              </a:ext>
            </a:extLst>
          </p:cNvPr>
          <p:cNvSpPr txBox="1"/>
          <p:nvPr/>
        </p:nvSpPr>
        <p:spPr>
          <a:xfrm>
            <a:off x="2819400" y="5997360"/>
            <a:ext cx="655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E59"/>
                </a:solidFill>
              </a:defRPr>
            </a:pPr>
            <a:r>
              <a:rPr lang="en-IN" sz="4800" b="1" dirty="0">
                <a:solidFill>
                  <a:srgbClr val="F2F8FF"/>
                </a:solidFill>
                <a:latin typeface="Aptos Display"/>
              </a:rPr>
              <a:t>AI Sudarshan Chakra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333756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2190"/>
            <a:ext cx="3337560" cy="74481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2F8FF"/>
                </a:solidFill>
                <a:latin typeface="Aptos"/>
              </a:defRPr>
            </a:pPr>
            <a:r>
              <a:rPr dirty="0"/>
              <a:t>AI risks, prompt injection,</a:t>
            </a:r>
            <a:r>
              <a:rPr lang="en-US" dirty="0"/>
              <a:t> </a:t>
            </a:r>
            <a:r>
              <a:rPr dirty="0"/>
              <a:t>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554480"/>
            <a:ext cx="16459" cy="164592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33756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AB3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2F8FF"/>
                </a:solidFill>
                <a:latin typeface="Aptos"/>
              </a:defRPr>
            </a:pPr>
            <a:r>
              <a:t>Multi-agent governance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16459" cy="164592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572768"/>
            <a:ext cx="333756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38DC9D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5740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2F8FF"/>
                </a:solidFill>
                <a:latin typeface="Aptos"/>
              </a:defRPr>
            </a:pPr>
            <a:r>
              <a:t>Trusted AI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Enterprise AI Risk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600200"/>
            <a:ext cx="438912" cy="438912"/>
          </a:xfrm>
          <a:prstGeom prst="ellipse">
            <a:avLst/>
          </a:prstGeom>
          <a:solidFill>
            <a:srgbClr val="0E3058"/>
          </a:solidFill>
          <a:ln w="19050">
            <a:solidFill>
              <a:srgbClr val="2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18488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51460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F2F8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5146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A9C6E1"/>
                </a:solidFill>
                <a:latin typeface="Aptos"/>
              </a:defRPr>
            </a:pPr>
            <a:r>
              <a:t>Enterprise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600200"/>
            <a:ext cx="16459" cy="182880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66160" y="1600200"/>
            <a:ext cx="438912" cy="438912"/>
          </a:xfrm>
          <a:prstGeom prst="ellipse">
            <a:avLst/>
          </a:prstGeom>
          <a:solidFill>
            <a:srgbClr val="0E3058"/>
          </a:solidFill>
          <a:ln w="19050">
            <a:solidFill>
              <a:srgbClr val="2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618488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251460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F2F8FF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25146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A9C6E1"/>
                </a:solidFill>
                <a:latin typeface="Aptos"/>
              </a:defRPr>
            </a:pPr>
            <a:r>
              <a:t>Enterprise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1" y="1600200"/>
            <a:ext cx="16459" cy="182880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46520" y="1600200"/>
            <a:ext cx="438912" cy="438912"/>
          </a:xfrm>
          <a:prstGeom prst="ellipse">
            <a:avLst/>
          </a:prstGeom>
          <a:solidFill>
            <a:srgbClr val="0E3058"/>
          </a:solidFill>
          <a:ln w="19050">
            <a:solidFill>
              <a:srgbClr val="2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618488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51460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F2F8FF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5146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A9C6E1"/>
                </a:solidFill>
                <a:latin typeface="Aptos"/>
              </a:defRPr>
            </a:pPr>
            <a:r>
              <a:t>Enterprise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79992" y="1600200"/>
            <a:ext cx="16459" cy="182880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0" y="1600200"/>
            <a:ext cx="438912" cy="438912"/>
          </a:xfrm>
          <a:prstGeom prst="ellipse">
            <a:avLst/>
          </a:prstGeom>
          <a:solidFill>
            <a:srgbClr val="0E3058"/>
          </a:solidFill>
          <a:ln w="19050">
            <a:solidFill>
              <a:srgbClr val="2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18488"/>
            <a:ext cx="438912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40280"/>
            <a:ext cx="251460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F2F8FF"/>
                </a:solidFill>
                <a:latin typeface="Aptos"/>
              </a:defRPr>
            </a:pPr>
            <a:r>
              <a:t>Hallucinations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34640"/>
            <a:ext cx="25146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A9C6E1"/>
                </a:solidFill>
                <a:latin typeface="Aptos"/>
              </a:defRPr>
            </a:pPr>
            <a:r>
              <a:t>Enterprise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rPr dirty="0"/>
              <a:t>The Governance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613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AB36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 marL="201168" marR="137160" marT="109728" marB="109728">
                    <a:solidFill>
                      <a:srgbClr val="081C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AB36"/>
                          </a:solidFill>
                          <a:latin typeface="Aptos"/>
                        </a:defRPr>
                      </a:pPr>
                      <a:r>
                        <a:t>Traditional</a:t>
                      </a:r>
                    </a:p>
                  </a:txBody>
                  <a:tcPr marL="201168" marR="137160" marT="109728" marB="109728">
                    <a:solidFill>
                      <a:srgbClr val="081C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AB36"/>
                          </a:solidFill>
                          <a:latin typeface="Aptos"/>
                        </a:defRPr>
                      </a:pPr>
                      <a:r>
                        <a:t>Agentic Reality</a:t>
                      </a:r>
                    </a:p>
                  </a:txBody>
                  <a:tcPr marL="201168" marR="137160" marT="109728" marB="109728">
                    <a:solidFill>
                      <a:srgbClr val="08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2AC2FF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 marL="201168" marR="137160" marT="109728" marB="109728">
                    <a:solidFill>
                      <a:srgbClr val="0C26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Manual</a:t>
                      </a:r>
                    </a:p>
                  </a:txBody>
                  <a:tcPr marL="201168" marR="137160" marT="109728" marB="109728">
                    <a:solidFill>
                      <a:srgbClr val="0C26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Autonomous</a:t>
                      </a:r>
                    </a:p>
                  </a:txBody>
                  <a:tcPr marL="201168" marR="137160" marT="109728" marB="109728">
                    <a:solidFill>
                      <a:srgbClr val="0C26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2AC2FF"/>
                          </a:solidFill>
                          <a:latin typeface="Aptos"/>
                        </a:defRPr>
                      </a:pPr>
                      <a:r>
                        <a:t>Response</a:t>
                      </a:r>
                    </a:p>
                  </a:txBody>
                  <a:tcPr marL="201168" marR="137160" marT="109728" marB="109728">
                    <a:solidFill>
                      <a:srgbClr val="091E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Reactive</a:t>
                      </a:r>
                    </a:p>
                  </a:txBody>
                  <a:tcPr marL="201168" marR="137160" marT="109728" marB="109728">
                    <a:solidFill>
                      <a:srgbClr val="091E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Dynamic</a:t>
                      </a:r>
                    </a:p>
                  </a:txBody>
                  <a:tcPr marL="201168" marR="137160" marT="109728" marB="109728">
                    <a:solidFill>
                      <a:srgbClr val="09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2AC2FF"/>
                          </a:solidFill>
                          <a:latin typeface="Aptos"/>
                        </a:defRPr>
                      </a:pPr>
                      <a:r>
                        <a:t>Rules</a:t>
                      </a:r>
                    </a:p>
                  </a:txBody>
                  <a:tcPr marL="201168" marR="137160" marT="109728" marB="109728">
                    <a:solidFill>
                      <a:srgbClr val="0C26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Static</a:t>
                      </a:r>
                    </a:p>
                  </a:txBody>
                  <a:tcPr marL="201168" marR="137160" marT="109728" marB="109728">
                    <a:solidFill>
                      <a:srgbClr val="0C26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Real-Time</a:t>
                      </a:r>
                    </a:p>
                  </a:txBody>
                  <a:tcPr marL="201168" marR="137160" marT="109728" marB="109728">
                    <a:solidFill>
                      <a:srgbClr val="0C26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k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9091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2E59"/>
                </a:solidFill>
              </a:defRPr>
            </a:pPr>
            <a:r>
              <a:rPr sz="2800" b="1" dirty="0">
                <a:solidFill>
                  <a:srgbClr val="F2F8FF"/>
                </a:solidFill>
                <a:latin typeface="Aptos Display"/>
              </a:rPr>
              <a:t>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chitectur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24246"/>
            <a:ext cx="20880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rPr sz="2800" b="1" dirty="0">
                <a:solidFill>
                  <a:srgbClr val="F2F8FF"/>
                </a:solidFill>
                <a:latin typeface="Aptos Display"/>
              </a:rPr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vernance 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665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2E59"/>
                </a:solidFill>
              </a:defRPr>
            </a:pPr>
            <a:r>
              <a:rPr sz="2800" b="1" dirty="0">
                <a:solidFill>
                  <a:srgbClr val="F2F8FF"/>
                </a:solidFill>
                <a:latin typeface="Aptos Display"/>
              </a:rPr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800" b="1">
                <a:solidFill>
                  <a:srgbClr val="F2F8FF"/>
                </a:solidFill>
                <a:latin typeface="Aptos"/>
              </a:defRPr>
            </a:pPr>
            <a:r>
              <a:rPr dirty="0"/>
              <a:t>Attack Simulation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89888" y="2542032"/>
            <a:ext cx="2066544" cy="32004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67328" y="2542032"/>
            <a:ext cx="2066543" cy="32004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44768" y="2542032"/>
            <a:ext cx="2066544" cy="32004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22208" y="2542032"/>
            <a:ext cx="2066543" cy="32004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9848" y="2386584"/>
            <a:ext cx="329184" cy="329184"/>
          </a:xfrm>
          <a:prstGeom prst="ellipse">
            <a:avLst/>
          </a:prstGeom>
          <a:solidFill>
            <a:srgbClr val="2AC2FF"/>
          </a:solidFill>
          <a:ln w="1397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2AC2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00" b="1">
                <a:solidFill>
                  <a:srgbClr val="F2F8FF"/>
                </a:solidFill>
                <a:latin typeface="Aptos"/>
              </a:defRPr>
            </a:pPr>
            <a:r>
              <a:t>Malicious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02152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0">
                <a:solidFill>
                  <a:srgbClr val="A9C6E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Oval 11"/>
          <p:cNvSpPr/>
          <p:nvPr/>
        </p:nvSpPr>
        <p:spPr>
          <a:xfrm>
            <a:off x="3447288" y="2386584"/>
            <a:ext cx="329184" cy="329184"/>
          </a:xfrm>
          <a:prstGeom prst="ellipse">
            <a:avLst/>
          </a:prstGeom>
          <a:solidFill>
            <a:srgbClr val="2AC2FF"/>
          </a:solidFill>
          <a:ln w="1397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60020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2AC2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8036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00" b="1">
                <a:solidFill>
                  <a:srgbClr val="F2F8FF"/>
                </a:solidFill>
                <a:latin typeface="Aptos"/>
              </a:defRPr>
            </a:pPr>
            <a:r>
              <a:t>Observer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02152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0">
                <a:solidFill>
                  <a:srgbClr val="A9C6E1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6" name="Oval 15"/>
          <p:cNvSpPr/>
          <p:nvPr/>
        </p:nvSpPr>
        <p:spPr>
          <a:xfrm>
            <a:off x="5824728" y="2386584"/>
            <a:ext cx="329184" cy="329184"/>
          </a:xfrm>
          <a:prstGeom prst="ellipse">
            <a:avLst/>
          </a:prstGeom>
          <a:solidFill>
            <a:srgbClr val="FFAB36"/>
          </a:solidFill>
          <a:ln w="1397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160020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FFAB3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00" b="1">
                <a:solidFill>
                  <a:srgbClr val="F2F8FF"/>
                </a:solidFill>
                <a:latin typeface="Aptos"/>
              </a:defRPr>
            </a:pPr>
            <a:r>
              <a:t>Red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502152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0">
                <a:solidFill>
                  <a:srgbClr val="A9C6E1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0" name="Oval 19"/>
          <p:cNvSpPr/>
          <p:nvPr/>
        </p:nvSpPr>
        <p:spPr>
          <a:xfrm>
            <a:off x="8202168" y="2386584"/>
            <a:ext cx="329184" cy="329184"/>
          </a:xfrm>
          <a:prstGeom prst="ellipse">
            <a:avLst/>
          </a:prstGeom>
          <a:solidFill>
            <a:srgbClr val="FFAB36"/>
          </a:solidFill>
          <a:ln w="1397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160020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FFAB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88036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00" b="1">
                <a:solidFill>
                  <a:srgbClr val="F2F8FF"/>
                </a:solidFill>
                <a:latin typeface="Aptos"/>
              </a:defRPr>
            </a:pPr>
            <a:r>
              <a:t>Risk 96/100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502152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0">
                <a:solidFill>
                  <a:srgbClr val="A9C6E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4" name="Oval 23"/>
          <p:cNvSpPr/>
          <p:nvPr/>
        </p:nvSpPr>
        <p:spPr>
          <a:xfrm>
            <a:off x="10579608" y="2386584"/>
            <a:ext cx="329184" cy="329184"/>
          </a:xfrm>
          <a:prstGeom prst="ellipse">
            <a:avLst/>
          </a:prstGeom>
          <a:solidFill>
            <a:srgbClr val="38DC9D"/>
          </a:solidFill>
          <a:ln w="1397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87000" y="160020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38DC9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88036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00" b="1">
                <a:solidFill>
                  <a:srgbClr val="F2F8FF"/>
                </a:solidFill>
                <a:latin typeface="Aptos"/>
              </a:defRPr>
            </a:pPr>
            <a:r>
              <a:t>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502152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0">
                <a:solidFill>
                  <a:srgbClr val="A9C6E1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4343400"/>
            <a:ext cx="8458200" cy="713232"/>
          </a:xfrm>
          <a:prstGeom prst="roundRect">
            <a:avLst/>
          </a:prstGeom>
          <a:solidFill>
            <a:srgbClr val="083035"/>
          </a:solidFill>
          <a:ln w="15240">
            <a:solidFill>
              <a:srgbClr val="38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57400" y="4480560"/>
            <a:ext cx="809244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38DC9D"/>
                </a:solidFill>
                <a:latin typeface="Aptos"/>
              </a:defRPr>
            </a:pPr>
            <a:r>
              <a:t>FINAL DECISION   •   BLOCKED   •   RISK SCORE: 96/100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vernance Dashboard 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21034" y="169817"/>
            <a:ext cx="52524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2E59"/>
                </a:solidFill>
              </a:defRPr>
            </a:pPr>
            <a:r>
              <a:rPr sz="2800" b="1" dirty="0">
                <a:solidFill>
                  <a:srgbClr val="F2F8FF"/>
                </a:solidFill>
                <a:latin typeface="Aptos"/>
              </a:rPr>
              <a:t>Governance Operations Center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3317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2AC2FF"/>
                </a:solidFill>
                <a:latin typeface="Aptos Display"/>
              </a:defRPr>
            </a:pPr>
            <a: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78608"/>
            <a:ext cx="23317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9C6E1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2968" y="1737360"/>
            <a:ext cx="16459" cy="132588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3317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2AC2FF"/>
                </a:solidFill>
                <a:latin typeface="Aptos Display"/>
              </a:defRPr>
            </a:pPr>
            <a:r>
              <a:t>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78608"/>
            <a:ext cx="23317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9C6E1"/>
                </a:solidFill>
                <a:latin typeface="Aptos"/>
              </a:defRPr>
            </a:pPr>
            <a:r>
              <a:t>PII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7" y="1737360"/>
            <a:ext cx="16459" cy="132588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3317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FFAB36"/>
                </a:solidFill>
                <a:latin typeface="Aptos Display"/>
              </a:defRPr>
            </a:pPr>
            <a:r>
              <a:t>&lt;5%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78608"/>
            <a:ext cx="23317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9C6E1"/>
                </a:solidFill>
                <a:latin typeface="Aptos"/>
              </a:defRPr>
            </a:pPr>
            <a:r>
              <a:t>False 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3688" y="1737360"/>
            <a:ext cx="16459" cy="132588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737360"/>
            <a:ext cx="23317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FFAB36"/>
                </a:solidFill>
                <a:latin typeface="Aptos Display"/>
              </a:defRPr>
            </a:pPr>
            <a:r>
              <a:t>&lt;2s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78608"/>
            <a:ext cx="23317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9C6E1"/>
                </a:solidFill>
                <a:latin typeface="Aptos"/>
              </a:defRPr>
            </a:pPr>
            <a:r>
              <a:t>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Risk &amp; Control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34440" y="1417320"/>
          <a:ext cx="9692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AB36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228600" marR="182880" marT="118872" marB="118872">
                    <a:solidFill>
                      <a:srgbClr val="081C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AB36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 marL="228600" marR="182880" marT="118872" marB="118872">
                    <a:solidFill>
                      <a:srgbClr val="08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Injection</a:t>
                      </a:r>
                    </a:p>
                  </a:txBody>
                  <a:tcPr marL="228600" marR="182880" marT="118872" marB="118872">
                    <a:solidFill>
                      <a:srgbClr val="0C26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Red team</a:t>
                      </a:r>
                    </a:p>
                  </a:txBody>
                  <a:tcPr marL="228600" marR="182880" marT="118872" marB="118872">
                    <a:solidFill>
                      <a:srgbClr val="0C26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Leakage</a:t>
                      </a:r>
                    </a:p>
                  </a:txBody>
                  <a:tcPr marL="228600" marR="182880" marT="118872" marB="118872">
                    <a:solidFill>
                      <a:srgbClr val="091E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PII detection</a:t>
                      </a:r>
                    </a:p>
                  </a:txBody>
                  <a:tcPr marL="228600" marR="182880" marT="118872" marB="118872">
                    <a:solidFill>
                      <a:srgbClr val="09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Compliance</a:t>
                      </a:r>
                    </a:p>
                  </a:txBody>
                  <a:tcPr marL="228600" marR="182880" marT="118872" marB="118872">
                    <a:solidFill>
                      <a:srgbClr val="0C26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F2F8FF"/>
                          </a:solidFill>
                          <a:latin typeface="Aptos"/>
                        </a:defRPr>
                      </a:pPr>
                      <a:r>
                        <a:t>Policy engine</a:t>
                      </a:r>
                    </a:p>
                  </a:txBody>
                  <a:tcPr marL="228600" marR="182880" marT="118872" marB="118872">
                    <a:solidFill>
                      <a:srgbClr val="0C26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Cost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MVP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383280" cy="7772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2F8FF"/>
                </a:solidFill>
                <a:latin typeface="Aptos Display"/>
              </a:defRPr>
            </a:pPr>
            <a:r>
              <a:t>$250/month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00200"/>
            <a:ext cx="18288" cy="1828800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600200"/>
            <a:ext cx="62179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AB36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176272"/>
            <a:ext cx="160020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F2F8FF"/>
                </a:solidFill>
                <a:latin typeface="Aptos Display"/>
              </a:defRPr>
            </a:pPr>
            <a: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816352"/>
            <a:ext cx="160020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A9C6E1"/>
                </a:solidFill>
                <a:latin typeface="Aptos"/>
              </a:defRPr>
            </a:pPr>
            <a: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267712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2AC2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76272"/>
            <a:ext cx="160020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F2F8FF"/>
                </a:solidFill>
                <a:latin typeface="Aptos Display"/>
              </a:defRPr>
            </a:pPr>
            <a: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16352"/>
            <a:ext cx="160020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A9C6E1"/>
                </a:solidFill>
                <a:latin typeface="Aptos"/>
              </a:defRPr>
            </a:pPr>
            <a: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67712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2AC2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176272"/>
            <a:ext cx="160020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F2F8FF"/>
                </a:solidFill>
                <a:latin typeface="Aptos Display"/>
              </a:defRPr>
            </a:pPr>
            <a:r>
              <a:t>10000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816352"/>
            <a:ext cx="160020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A9C6E1"/>
                </a:solidFill>
                <a:latin typeface="Aptos"/>
              </a:defRPr>
            </a:pPr>
            <a:r>
              <a:t>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057400"/>
            <a:ext cx="146304" cy="146304"/>
          </a:xfrm>
          <a:prstGeom prst="ellipse">
            <a:avLst/>
          </a:prstGeom>
          <a:solidFill>
            <a:srgbClr val="2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01952"/>
            <a:ext cx="192024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F8FF"/>
                </a:solidFill>
                <a:latin typeface="Aptos"/>
              </a:defRPr>
            </a:pPr>
            <a:r>
              <a:t>Banking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938528"/>
            <a:ext cx="13716" cy="658368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34639" y="2057400"/>
            <a:ext cx="146304" cy="146304"/>
          </a:xfrm>
          <a:prstGeom prst="ellipse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901952"/>
            <a:ext cx="192024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F8FF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79" y="1938528"/>
            <a:ext cx="13716" cy="658368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66359" y="2057400"/>
            <a:ext cx="146304" cy="146304"/>
          </a:xfrm>
          <a:prstGeom prst="ellipse">
            <a:avLst/>
          </a:prstGeom>
          <a:solidFill>
            <a:srgbClr val="2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901952"/>
            <a:ext cx="192024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F8FF"/>
                </a:solidFill>
                <a:latin typeface="Aptos"/>
              </a:defRPr>
            </a:pPr>
            <a:r>
              <a:t>Insurance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938528"/>
            <a:ext cx="13716" cy="658368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2057400"/>
            <a:ext cx="146304" cy="146304"/>
          </a:xfrm>
          <a:prstGeom prst="ellipse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54111" y="1901952"/>
            <a:ext cx="192024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F8FF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19" y="1938528"/>
            <a:ext cx="13716" cy="658368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29800" y="2057400"/>
            <a:ext cx="146304" cy="146304"/>
          </a:xfrm>
          <a:prstGeom prst="ellipse">
            <a:avLst/>
          </a:prstGeom>
          <a:solidFill>
            <a:srgbClr val="2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85832" y="1901952"/>
            <a:ext cx="192024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F8FF"/>
                </a:solidFill>
                <a:latin typeface="Aptos"/>
              </a:defRPr>
            </a:pPr>
            <a:r>
              <a:t>Government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2F8FF"/>
                </a:solidFill>
                <a:latin typeface="Aptos Display"/>
              </a:defRPr>
            </a:pPr>
            <a:r>
              <a:t>Vision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658368" cy="41148"/>
          </a:xfrm>
          <a:prstGeom prst="rect">
            <a:avLst/>
          </a:prstGeom>
          <a:solidFill>
            <a:srgbClr val="FF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0" y="2304288"/>
            <a:ext cx="9966960" cy="32004"/>
          </a:xfrm>
          <a:prstGeom prst="rect">
            <a:avLst/>
          </a:prstGeom>
          <a:solidFill>
            <a:srgbClr val="23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54480" y="2121408"/>
            <a:ext cx="384048" cy="384048"/>
          </a:xfrm>
          <a:prstGeom prst="ellipse">
            <a:avLst/>
          </a:prstGeom>
          <a:solidFill>
            <a:srgbClr val="2AC2FF"/>
          </a:solidFill>
          <a:ln w="1270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22402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23160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2F8FF"/>
                </a:solidFill>
                <a:latin typeface="Aptos"/>
              </a:defRPr>
            </a:pPr>
            <a:r>
              <a:t>Assistants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42316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A9C6E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2121408"/>
            <a:ext cx="384048" cy="384048"/>
          </a:xfrm>
          <a:prstGeom prst="ellipse">
            <a:avLst/>
          </a:prstGeom>
          <a:solidFill>
            <a:srgbClr val="2AC2FF"/>
          </a:solidFill>
          <a:ln w="1270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444752"/>
            <a:ext cx="22402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2FF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80"/>
            <a:ext cx="2423160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2F8FF"/>
                </a:solidFill>
                <a:latin typeface="Aptos"/>
              </a:defRPr>
            </a:pPr>
            <a:r>
              <a:t>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74720"/>
            <a:ext cx="242316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A9C6E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2121408"/>
            <a:ext cx="384048" cy="384048"/>
          </a:xfrm>
          <a:prstGeom prst="ellipse">
            <a:avLst/>
          </a:prstGeom>
          <a:solidFill>
            <a:srgbClr val="FFAB36"/>
          </a:solidFill>
          <a:ln w="1270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444752"/>
            <a:ext cx="22402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AB36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7480"/>
            <a:ext cx="2423160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2F8FF"/>
                </a:solidFill>
                <a:latin typeface="Aptos"/>
              </a:defRPr>
            </a:pPr>
            <a:r>
              <a:t>Control Tower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74720"/>
            <a:ext cx="242316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A9C6E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2121408"/>
            <a:ext cx="384048" cy="384048"/>
          </a:xfrm>
          <a:prstGeom prst="ellipse">
            <a:avLst/>
          </a:prstGeom>
          <a:solidFill>
            <a:srgbClr val="38DC9D"/>
          </a:solidFill>
          <a:ln w="1270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444752"/>
            <a:ext cx="22402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38DC9D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97480"/>
            <a:ext cx="2423160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2F8FF"/>
                </a:solidFill>
                <a:latin typeface="Aptos"/>
              </a:defRPr>
            </a:pPr>
            <a:r>
              <a:t>AI Immune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474720"/>
            <a:ext cx="242316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A9C6E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172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Dutta, Sonali</dc:creator>
  <cp:keywords/>
  <dc:description>generated using python-pptx</dc:description>
  <cp:lastModifiedBy>Dutta, Sonali</cp:lastModifiedBy>
  <cp:revision>3</cp:revision>
  <dcterms:created xsi:type="dcterms:W3CDTF">2026-10-23T17:12:17Z</dcterms:created>
  <dcterms:modified xsi:type="dcterms:W3CDTF">2026-10-23T18:46:42Z</dcterms:modified>
  <cp:category/>
</cp:coreProperties>
</file>